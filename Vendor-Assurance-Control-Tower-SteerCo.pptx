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6635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6635E"/>
                </a:solidFill>
                <a:latin typeface="Calibri"/>
              </a:rPr>
              <a:t>Reviewer FTE required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Reviewer FTE</c:v>
                </c:pt>
              </c:strCache>
            </c:strRef>
          </c:tx>
          <c:spPr>
            <a:solidFill>
              <a:srgbClr val="5663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224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663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2A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5D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Today
5% coverage</c:v>
                  </c:pt>
                  <c:pt idx="1">
                    <c:v>Manual QA
100% coverage</c:v>
                  </c:pt>
                  <c:pt idx="2">
                    <c:v>AI-assisted
100% coverage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145</c:v>
                </c:pt>
                <c:pt idx="2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224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</c:scaling>
        <c:delete val="0"/>
        <c:axPos val="b"/>
        <c:majorGridlines>
          <c:spPr>
            <a:ln w="9525" cap="flat">
              <a:solidFill>
                <a:srgbClr val="DF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35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3E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coverage problem, not a speed problem. We are asking for approval of Wave 1 only — a 90-day, evidence-generating phase that ends in a defensible go/no-go.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95% is the headline. We are not slow — we are blind across nineteen twentieths of the 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is the load-bearing wall of the design — every governance control rests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business case depends on the flag rate holding near 12%. Section on prerequisites explains why form standardisation is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asks for the savings number: there isn't one worth quoting. The value is 20x coverage at roughly the team we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new team: AI Assurance Product, ring-fenced in 2LoD. Small — a handful of people — but it must not be the QA team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Promotion from L1 to L2 requires 85% precision sustained over eight weeks, per check. Some checks will never be promoted — that is a correct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In-flight guidance also changes the politics: the AI helps the first line finish faster rather than marking their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resolution is typically the largest single line in a programme like this. Budget for it properly — skipping it invalidates the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Blocking rules override the arithmetic: expired evidence on a critical control routes to a human regardless of a high AQS.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observation without a citation trail cannot be defended in an audit or contested by a business unit — we discard it rather than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measure has a named owner, a threshold and an escalation path. A measure without a threshold is a chart, not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15-25% disagreement between the two reviewers. Where they disagree, the standard is ambiguous — and no model beats an ambiguous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vision slide. Do not let it become the ask — the ask is Wave 1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cost levers: rules first so the model only sees answers needing language judgment; batch overnight on provisioned throughput; cache the clause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fairness testing quarterly. A model penalising small or non-English vendors for prose quality rather than control quality is a real failure mode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here. A steering committee that hears only upside stops believing the rest of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Wave 1 is deliberately small and reversible — the point is to generate evidence, not to commit to the full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COMPLIANCE   ·   STEERING COMMITTEE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Assurance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Tower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quality assurance and oversight framework for a population of 250,000+ outsourced service providers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BLUEPRINT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49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v0.9 — for review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5074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5349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September 2026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5074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SOUGHT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5349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Wave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coverage, not speed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volumes, manual QA cannot reach the population — so most of the estate is never reviewed at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2920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8E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7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completed assessments receive no quality review 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22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5% we do review is selected by reviewer availability, not by risk.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5696712" cy="886968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65506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~310,000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67335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completed each year across audits, reviews, SLA checks and control testing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596896"/>
            <a:ext cx="5696712" cy="886968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26517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~1,240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67004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landing every business 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3593592"/>
            <a:ext cx="5696712" cy="886968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364845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FTE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66674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quality-review 100% of them manually, at 45 minutes each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11091672" cy="1371600"/>
          </a:xfrm>
          <a:prstGeom prst="roundRect">
            <a:avLst>
              <a:gd name="adj" fmla="val 2667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8646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COSTS US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389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evidence to a supervisor that outsourcing assessments are subject to consistent quality control; systemic control gaps stay invisible because nobody sees across the population; and vendor deterioration is discovered at the next assessment rather than when it happens.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are a planning model built on stated assumptions, to be replaced with measured figures from our estate in week one.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proposing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opinion on every assessment; human judgment concentrated where it changes an outcome.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03520" cy="3703320"/>
          </a:xfrm>
          <a:prstGeom prst="roundRect">
            <a:avLst>
              <a:gd name="adj" fmla="val 988"/>
            </a:avLst>
          </a:prstGeom>
          <a:solidFill>
            <a:srgbClr val="EDEAE6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" y="2304288"/>
            <a:ext cx="118872" cy="118872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21945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assessments reviewed, chosen by availability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" y="2907792"/>
            <a:ext cx="118872" cy="118872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2798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only if a reviewer happens to look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11296"/>
            <a:ext cx="118872" cy="118872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4015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across the population — themes invisible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" y="4114800"/>
            <a:ext cx="118872" cy="118872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5568" y="40050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surfaces at the next assessment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" y="4718304"/>
            <a:ext cx="118872" cy="118872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46085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effort scales linearly with vendor 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6792" y="1600200"/>
            <a:ext cx="5303520" cy="3703320"/>
          </a:xfrm>
          <a:prstGeom prst="roundRect">
            <a:avLst>
              <a:gd name="adj" fmla="val 988"/>
            </a:avLst>
          </a:prstGeom>
          <a:solidFill>
            <a:srgbClr val="E4EDEC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29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47688" y="2304288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1945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machine-reviewed; every assessment scored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47688" y="2907792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2798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flagged to humans, ranked by vendor risk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47688" y="3511296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40156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clustered into control gaps and trends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47688" y="4114800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40050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signals fire between assessments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47688" y="4718304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60857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scales with exceptions, not with population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91672" cy="713232"/>
          </a:xfrm>
          <a:prstGeom prst="roundRect">
            <a:avLst>
              <a:gd name="adj" fmla="val 5128"/>
            </a:avLst>
          </a:prstGeom>
          <a:solidFill>
            <a:srgbClr val="12242B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548640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produces observations.  Only a human produces findings.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work is triaged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screened by machine. Human attention is spent only where the machine cannot decide.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submitted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310,000 / yr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201168"/>
          </a:xfrm>
          <a:prstGeom prst="rect">
            <a:avLst/>
          </a:prstGeom>
          <a:solidFill>
            <a:srgbClr val="E1E5DD"/>
          </a:solidFill>
          <a:ln w="12700">
            <a:solidFill>
              <a:srgbClr val="E1E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75104"/>
            <a:ext cx="9509760" cy="201168"/>
          </a:xfrm>
          <a:prstGeom prst="rect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219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+ language review on every one. No sampling at this stage.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43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Auto-accepted — quality score ≥ 85, no blocking rule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272,800  ·  88%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1091672" cy="201168"/>
          </a:xfrm>
          <a:prstGeom prst="rect">
            <a:avLst/>
          </a:prstGeom>
          <a:solidFill>
            <a:srgbClr val="E1E5DD"/>
          </a:solidFill>
          <a:ln w="12700">
            <a:solidFill>
              <a:srgbClr val="E1E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2384"/>
            <a:ext cx="8366760" cy="201168"/>
          </a:xfrm>
          <a:prstGeom prst="rect">
            <a:avLst/>
          </a:prstGeom>
          <a:solidFill>
            <a:srgbClr val="3F6B52"/>
          </a:solidFill>
          <a:ln w="12700">
            <a:solidFill>
              <a:srgbClr val="3F6B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192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blind re-review by humans as a control on the model, not on the vendor.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human disposition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37,200  ·  12%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11091672" cy="201168"/>
          </a:xfrm>
          <a:prstGeom prst="rect">
            <a:avLst/>
          </a:prstGeom>
          <a:solidFill>
            <a:srgbClr val="E1E5DD"/>
          </a:solidFill>
          <a:ln w="12700">
            <a:solidFill>
              <a:srgbClr val="E1E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9664"/>
            <a:ext cx="2651760" cy="201168"/>
          </a:xfrm>
          <a:prstGeom prst="rect">
            <a:avLst/>
          </a:prstGeom>
          <a:solidFill>
            <a:srgbClr val="B5642A"/>
          </a:solidFill>
          <a:ln w="12700">
            <a:solidFill>
              <a:srgbClr val="B564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16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flag rate. Below 6% the model under-detects; above 20% reviewers stop trusting it.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— policy breach, critical vendor, systemic signal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937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 ·  0.8%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266944"/>
            <a:ext cx="11091672" cy="201168"/>
          </a:xfrm>
          <a:prstGeom prst="rect">
            <a:avLst/>
          </a:prstGeom>
          <a:solidFill>
            <a:srgbClr val="E1E5DD"/>
          </a:solidFill>
          <a:ln w="12700">
            <a:solidFill>
              <a:srgbClr val="E1E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66944"/>
            <a:ext cx="1234440" cy="201168"/>
          </a:xfrm>
          <a:prstGeom prst="rect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138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review, four-eyes, committee visibility.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8932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effort: ~8,700 hours a year — about 5.5 FTE — for 100% coverage.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lengths are proportional within each row's own scale band; percentages are of total submitted volume.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cost. Twenty times the coverage.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this programme is assurance coverage, not headcount reduction — and we should present it that way.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916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783080"/>
            <a:ext cx="3913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01000" y="19293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48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 →  100%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597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assessment gets a documented quality opinion.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3081528"/>
            <a:ext cx="3913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01000" y="3227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 →  Risk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7581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directed at the highest-risk cases.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26680" y="4379976"/>
            <a:ext cx="39136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001000" y="4526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4745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 →  Exception-based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50566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vendors no longer adds proportional QA cost.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~2 FTE for model oversight, back-testing and thematic analysis. Figures follow the assumption set in the blueprint.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operating model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model with a central AI assurance capability, sitting inside the three lines of defence.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2237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922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line — business units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8483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assessments; remediate observations raised against their vendors; own evidence quality at source.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72237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9626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line — QA, AI product, model risk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5526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 disposes of every flag. A separate AI product team owns rules and prompts. Model Risk validates independently.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72237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88536"/>
            <a:ext cx="457200" cy="457200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330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line — internal audit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42569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the QA process and the AI control itself, including end-to-end testing of the audit trail.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1645920"/>
            <a:ext cx="3639312" cy="3575304"/>
          </a:xfrm>
          <a:prstGeom prst="roundRect">
            <a:avLst>
              <a:gd name="adj" fmla="val 1023"/>
            </a:avLst>
          </a:prstGeom>
          <a:solidFill>
            <a:srgbClr val="12242B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753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240280"/>
            <a:ext cx="3108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that builds the model must not dispose of its output.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may approve a change to the scoring weights.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changes go to this committee, with Model Risk sign-off — because re-weighting silently re-tiers thousands of vendors.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change is, in substance, a change to risk appetite.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owner: Outsourcing / Operational Risk Committee — sets risk appetite thresholds, tier definitions, scoring weights, and any change to how much the machine is allowed to decide.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the machine is allowed to decide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granted per check and per vendor tier, and earned through measured precision — never assumed at launch.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24328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74520"/>
            <a:ext cx="512064" cy="512064"/>
          </a:xfrm>
          <a:prstGeom prst="ellipse">
            <a:avLst/>
          </a:prstGeom>
          <a:solidFill>
            <a:srgbClr val="56635E"/>
          </a:solidFill>
          <a:ln w="12700">
            <a:solidFill>
              <a:srgbClr val="5663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980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everything; output visible only to the AI team. Minimum six weeks per new check.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74136" y="1645920"/>
            <a:ext cx="2624328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0168" y="1874520"/>
            <a:ext cx="512064" cy="51206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016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7980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shown to reviewers with citations. The reviewer decides independently.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632" y="1645920"/>
            <a:ext cx="2624328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874520"/>
            <a:ext cx="512064" cy="51206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27980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who reviews what, and auto-accepts clean low-tier work. Blocked for critical vendors.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25128" y="1645920"/>
            <a:ext cx="2624328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1160" y="1874520"/>
            <a:ext cx="512064" cy="51206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487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Auto-disposition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7980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clean Tier 4/5 assessments, with 5% blind sampling as the control.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11091672" cy="1965960"/>
          </a:xfrm>
          <a:prstGeom prst="roundRect">
            <a:avLst>
              <a:gd name="adj" fmla="val 1860"/>
            </a:avLst>
          </a:prstGeom>
          <a:solidFill>
            <a:srgbClr val="F0E4E2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— NO AUTONOMY LEVEL LIFTS THESE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" y="4709160"/>
            <a:ext cx="128016" cy="128016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45902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downgrades a vendor's risk tier without human approval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36208" y="4709160"/>
            <a:ext cx="128016" cy="128016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45902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closes an adverse or breach observation autonomously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1248" y="5276088"/>
            <a:ext cx="128016" cy="128016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97280" y="5157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auto-accepts a critical or material vendor assessment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36208" y="5276088"/>
            <a:ext cx="128016" cy="128016"/>
          </a:xfrm>
          <a:prstGeom prst="ellipse">
            <a:avLst/>
          </a:prstGeom>
          <a:solidFill>
            <a:srgbClr val="8E2A2A"/>
          </a:solidFill>
          <a:ln w="12700">
            <a:solidFill>
              <a:srgbClr val="8E2A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2240" y="5157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communicates with, suspends, or terminates a vendor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3276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outcomes are always human-decided and always attributable to a named reviewer.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is used — and where rules are better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of what we need is not a generative AI problem. Solving it with rules is cheaper, reproducible and far easier to defend.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 ·  WAVE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59536" y="2395728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22677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and conditional-logic gaps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3017520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28895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presence, type match, validity window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" y="3639312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5112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across paired answers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" y="4261104"/>
            <a:ext cx="118872" cy="118872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5568" y="4133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text, copy-forward from last year,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completion times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754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versioned rules. 100% reproducible, individually testable, explainable to a supervisor line by 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36792" y="1691640"/>
            <a:ext cx="5303520" cy="36576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2940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56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 ·  WAVE 2–3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47688" y="2395728"/>
            <a:ext cx="118872" cy="118872"/>
          </a:xfrm>
          <a:prstGeom prst="ellipse">
            <a:avLst/>
          </a:prstGeom>
          <a:solidFill>
            <a:srgbClr val="B5642A"/>
          </a:solidFill>
          <a:ln w="12700">
            <a:solidFill>
              <a:srgbClr val="B564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2677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whether a justification is substantive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47688" y="3017520"/>
            <a:ext cx="118872" cy="118872"/>
          </a:xfrm>
          <a:prstGeom prst="ellipse">
            <a:avLst/>
          </a:prstGeom>
          <a:solidFill>
            <a:srgbClr val="B5642A"/>
          </a:solidFill>
          <a:ln w="12700">
            <a:solidFill>
              <a:srgbClr val="B564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8895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evidence: does the SOC 2 actually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claim being made?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47688" y="3639312"/>
            <a:ext cx="118872" cy="118872"/>
          </a:xfrm>
          <a:prstGeom prst="ellipse">
            <a:avLst/>
          </a:prstGeom>
          <a:solidFill>
            <a:srgbClr val="B5642A"/>
          </a:solidFill>
          <a:ln w="12700">
            <a:solidFill>
              <a:srgbClr val="B564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5112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regulatory conformance checking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47688" y="4261104"/>
            <a:ext cx="118872" cy="118872"/>
          </a:xfrm>
          <a:prstGeom prst="ellipse">
            <a:avLst/>
          </a:prstGeom>
          <a:solidFill>
            <a:srgbClr val="B5642A"/>
          </a:solidFill>
          <a:ln w="12700">
            <a:solidFill>
              <a:srgbClr val="B564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133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findings into control-gap themes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754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the three things only a model can do: judge prose, read unstructured evidence, cluster by meaning.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5128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use case is upstream: guidance to the preparer while the assessment is being completed prevents the defect instead of detecting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lakehouse on Microsoft Fabric. The GRC platform stays the system of record; the lakehouse becomes the system of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8483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· contracts · spend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incidents · SLA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external signals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4688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52928" y="1783080"/>
            <a:ext cx="208483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35808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raw, immutable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conformed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scores and themes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688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57216" y="1783080"/>
            <a:ext cx="2084832" cy="1828800"/>
          </a:xfrm>
          <a:prstGeom prst="roundRect">
            <a:avLst>
              <a:gd name="adj" fmla="val 2000"/>
            </a:avLst>
          </a:prstGeom>
          <a:solidFill>
            <a:srgbClr val="12242B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40096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340096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· document AI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review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and routing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4688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61504" y="1783080"/>
            <a:ext cx="208483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44384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44384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workbench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decision record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to GRC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46336" y="24688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208483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948672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948672" y="22860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reviewer decisions feed back as the training signal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problems that will decide the outcome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3538728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86384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identity resolution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250,000-row master will contain heavy duplication. Until it is resolved, concentration risk is understated and every analytic is wrong.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25112" y="4526280"/>
            <a:ext cx="3538728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562856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clause library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62856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and regulation decomposed into individually testable obligations, each dated. This is a compliance-authoring job, not an engineering one.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01584" y="4526280"/>
            <a:ext cx="3538728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339328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standardisation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39328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control is asked six ways across six templates, we cannot detect contradictions or cluster themes. Prerequisite, not a parallel workstream.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scoring: three scores, deliberately not merged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flawless assessment can describe a dangerous vendor. Conflating document quality with vendor risk is the most common failure in this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38728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01952"/>
            <a:ext cx="868680" cy="384048"/>
          </a:xfrm>
          <a:prstGeom prst="roundRect">
            <a:avLst>
              <a:gd name="adj" fmla="val 9524"/>
            </a:avLst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901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Quality Score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980944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assessment meet documentation standards? Six weighted dimensions: completeness, evidence integrity, justification quality, internal consistency, policy conformance, data hygiene.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 accept  ·  70–84 advisory  ·  55–69 rework  ·  &lt; 55 reject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538728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62856" y="1901952"/>
            <a:ext cx="868680" cy="384048"/>
          </a:xfrm>
          <a:prstGeom prst="roundRect">
            <a:avLst>
              <a:gd name="adj" fmla="val 9524"/>
            </a:avLst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2856" y="1901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Composite 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980944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risk from criticality, data sensitivity, concentration, sub-outsourcing depth and geography — reduced by demonstrated control effectiveness, then adjusted by live signals.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mitigate at most 60% — criticality stays visible in the residual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38728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901952"/>
            <a:ext cx="868680" cy="384048"/>
          </a:xfrm>
          <a:prstGeom prst="roundRect">
            <a:avLst>
              <a:gd name="adj" fmla="val 9524"/>
            </a:avLst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19019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1901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23957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Index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980944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is a rate, not a level. Eight signals z-scored against the vendor's own baseline and its peer group, firing on a two-of-eight rule to suppress noise.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set to what the team can genuinely investigate — 40–60 open alerts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11091672" cy="1051560"/>
          </a:xfrm>
          <a:prstGeom prst="roundRect">
            <a:avLst>
              <a:gd name="adj" fmla="val 3478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53218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ABSENT: A SINGLE VENDOR HEALTH SCORE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composite-of-composites hides what moved it, and management will act on the number without asking. Every score also carries a confidence measure — low confidence on a low-risk vendor usually means nobody has looked, which is itself a warning signal.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scored assessment actually looks like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payment reconciliation provider · material vendor · annual reassessment.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engine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62 conditional fields left blank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 certificate expired three months 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of 40 free-text answers fail 3 or more rubric 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 sub-outsourcing” contradicts a named fourth party elsewhere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conformance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continuity test evidence absent (clause OPS-14)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hygiene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answers identical to last year's 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691640"/>
            <a:ext cx="3273552" cy="1874520"/>
          </a:xfrm>
          <a:prstGeom prst="roundRect">
            <a:avLst>
              <a:gd name="adj" fmla="val 1951"/>
            </a:avLst>
          </a:prstGeom>
          <a:solidFill>
            <a:srgbClr val="12242B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410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08483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band  ·  6 observations raised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66760" y="3703320"/>
            <a:ext cx="3273552" cy="2084832"/>
          </a:xfrm>
          <a:prstGeom prst="roundRect">
            <a:avLst>
              <a:gd name="adj" fmla="val 1754"/>
            </a:avLst>
          </a:prstGeom>
          <a:solidFill>
            <a:srgbClr val="F0E4E2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4108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RULE FIRED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187952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evidence on a critical control routes straight to the escalation queue — not the rework queue — regardless of the score.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required within 5 business days, by a named reviewer.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carries the question, a verbatim quote, the policy clause it was judged against, the rubric criterion that failed, and the model and prompt versions used.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sees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 for four decisions — built in this order, because the reviewer workbench produces the data the other three display.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035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workbench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2LoD reviewers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665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work on next, and what do I decide?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6035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360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owners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35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 about this vendor, and what do I owe it?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6035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 oversight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heads, 1LoD risk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005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portfolio weak, and who is overdue?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6035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pack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681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committee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743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risk profile within appetite and improving?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1645920"/>
            <a:ext cx="4828032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059168" y="1810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density by business unit and vendor tier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0482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per 100 assessments — illustrative shape only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683496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250424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817352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Lending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49640" y="260604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9640" y="260604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16568" y="260604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16568" y="260604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83496" y="2606040"/>
            <a:ext cx="539496" cy="338328"/>
          </a:xfrm>
          <a:prstGeom prst="rect">
            <a:avLst/>
          </a:prstGeom>
          <a:solidFill>
            <a:srgbClr val="D99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83496" y="260604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250424" y="260604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50424" y="260604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17352" y="260604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817352" y="260604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059168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&amp; Commercial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49640" y="297180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49640" y="297180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16568" y="2971800"/>
            <a:ext cx="539496" cy="338328"/>
          </a:xfrm>
          <a:prstGeom prst="rect">
            <a:avLst/>
          </a:prstGeom>
          <a:solidFill>
            <a:srgbClr val="D99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16568" y="297180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83496" y="2971800"/>
            <a:ext cx="539496" cy="338328"/>
          </a:xfrm>
          <a:prstGeom prst="rect">
            <a:avLst/>
          </a:prstGeom>
          <a:solidFill>
            <a:srgbClr val="C06B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83496" y="297180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250424" y="2971800"/>
            <a:ext cx="539496" cy="338328"/>
          </a:xfrm>
          <a:prstGeom prst="rect">
            <a:avLst/>
          </a:prstGeom>
          <a:solidFill>
            <a:srgbClr val="D99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250424" y="297180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817352" y="297180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817352" y="297180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Cards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49640" y="3337560"/>
            <a:ext cx="539496" cy="338328"/>
          </a:xfrm>
          <a:prstGeom prst="rect">
            <a:avLst/>
          </a:prstGeom>
          <a:solidFill>
            <a:srgbClr val="E8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549640" y="333756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16568" y="333756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16568" y="333756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683496" y="333756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83496" y="333756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250424" y="333756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250424" y="333756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817352" y="3337560"/>
            <a:ext cx="539496" cy="338328"/>
          </a:xfrm>
          <a:prstGeom prst="rect">
            <a:avLst/>
          </a:prstGeom>
          <a:solidFill>
            <a:srgbClr val="E8E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817352" y="333756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059168" y="3703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Distr.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549640" y="370332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549640" y="370332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16568" y="370332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116568" y="370332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683496" y="370332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83496" y="370332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250424" y="3703320"/>
            <a:ext cx="539496" cy="338328"/>
          </a:xfrm>
          <a:prstGeom prst="rect">
            <a:avLst/>
          </a:prstGeom>
          <a:solidFill>
            <a:srgbClr val="D99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250424" y="370332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817352" y="370332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817352" y="370332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05916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549640" y="406908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549640" y="406908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16568" y="406908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116568" y="406908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683496" y="4069080"/>
            <a:ext cx="539496" cy="338328"/>
          </a:xfrm>
          <a:prstGeom prst="rect">
            <a:avLst/>
          </a:prstGeom>
          <a:solidFill>
            <a:srgbClr val="D99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683496" y="406908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250424" y="4069080"/>
            <a:ext cx="539496" cy="338328"/>
          </a:xfrm>
          <a:prstGeom prst="rect">
            <a:avLst/>
          </a:prstGeom>
          <a:solidFill>
            <a:srgbClr val="E7BC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250424" y="406908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817352" y="4069080"/>
            <a:ext cx="539496" cy="338328"/>
          </a:xfrm>
          <a:prstGeom prst="rect">
            <a:avLst/>
          </a:prstGeom>
          <a:solidFill>
            <a:srgbClr val="EDD9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817352" y="4069080"/>
            <a:ext cx="539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4370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tell us which unit is large. Rates tell us which has a problem.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48640" y="5532120"/>
            <a:ext cx="11091672" cy="987552"/>
          </a:xfrm>
          <a:prstGeom prst="roundRect">
            <a:avLst>
              <a:gd name="adj" fmla="val 3704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822960" y="56875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MEASURES THAT MATTER MOST TO THIS COMMITTEE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assessment currency (100%, any gap escalates)   ·   Model precision (≥ 85% of observations upheld)   ·   Blind-sample escape rate (&lt; 2%)   ·   Reviewer override rate (&lt; 15%)   ·   Overdue critical remediation (zero tolerance)   ·   Concentration exposure against board limit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90 days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to produce a defensible go/no-go on real data — not a proof of concept that impresses a committee and then dies on contact with the vendor master.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38728" cy="411480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38528"/>
            <a:ext cx="603504" cy="60350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ground truth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26883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historical assessments QA'd independently by two senior reviewers — the golden dataset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319272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200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where those two disagree; resolve into written rules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37124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vendor master: duplication, tiers, completeness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2416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assessment questions to one control taxonomy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855464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" y="47365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model risk governance intake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defect rates, reviewer agreement, data quality report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5112" y="1737360"/>
            <a:ext cx="3538728" cy="411480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1938528"/>
            <a:ext cx="603504" cy="60350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81144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 in shadow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99432" y="2807208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26883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~180 versioned deterministic rules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9432" y="3319272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18888" y="3200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silently over 90 days of backlog; measure precision per rule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99432" y="3831336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18888" y="37124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any rule below 70% precision rather than defend 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99432" y="4343400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18888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workbench in daily use by two reviewers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99432" y="4855464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18888" y="47365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quality-score distribution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99432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precision report and go/no-go on the generative wave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01584" y="1737360"/>
            <a:ext cx="3538728" cy="411480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57616" y="1938528"/>
            <a:ext cx="603504" cy="60350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57616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061704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061704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segment live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375904" y="2807208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95360" y="26883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justification scoring and evidence extraction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75904" y="3319272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95360" y="3200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record into immutable storage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75904" y="3831336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95360" y="37124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in advisory mode for one business unit and one assessment type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75904" y="4343400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95360" y="4224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validation pack submitted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75904" y="4855464"/>
            <a:ext cx="100584" cy="100584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95360" y="47365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executive dashboard to this committee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375904" y="53218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advisory QA on a live segment, validated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do only one thing first: build the golden dataset. It needs no technology decision, no procurement and no approval — and without it we cannot tell whether any of the rest works.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7FB3BD"/>
          </a:solidFill>
          <a:ln w="12700">
            <a:solidFill>
              <a:srgbClr val="7FB3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goes: months 12 to 24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is not faster periodic assessment. It is retiring periodic assessment as the primary control for most of the population.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13832" cy="1965960"/>
          </a:xfrm>
          <a:prstGeom prst="roundRect">
            <a:avLst>
              <a:gd name="adj" fmla="val 1860"/>
            </a:avLst>
          </a:prstGeom>
          <a:solidFill>
            <a:srgbClr val="1C3540"/>
          </a:solidFill>
          <a:ln w="9525">
            <a:solidFill>
              <a:srgbClr val="2C4E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892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B3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Risk-adaptive cadence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5856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frequency driven by vendor risk and early-warning signals rather than by the calendar. Stable low-risk vendors move to continuous monitoring with attestation only; deteriorating vendors are assessed on trigger. This is what makes 250,000 vendors genuinely manageable.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513832" cy="1965960"/>
          </a:xfrm>
          <a:prstGeom prst="roundRect">
            <a:avLst>
              <a:gd name="adj" fmla="val 1860"/>
            </a:avLst>
          </a:prstGeom>
          <a:solidFill>
            <a:srgbClr val="1C3540"/>
          </a:solidFill>
          <a:ln w="9525">
            <a:solidFill>
              <a:srgbClr val="2C4E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892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B3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Nth-party visibility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25856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supply-chain graph across the estate, with concentration and single-point-of-failure analysis at the level of the business function rather than the individual vendor.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513832" cy="1965960"/>
          </a:xfrm>
          <a:prstGeom prst="roundRect">
            <a:avLst>
              <a:gd name="adj" fmla="val 1860"/>
            </a:avLst>
          </a:prstGeom>
          <a:solidFill>
            <a:srgbClr val="1C3540"/>
          </a:solidFill>
          <a:ln w="9525">
            <a:solidFill>
              <a:srgbClr val="2C4E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087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B3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capability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4531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operational impact of a named critical provider failing, against defined impact tolerances — the question supervisors increasingly ask directly.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886200"/>
            <a:ext cx="5513832" cy="1965960"/>
          </a:xfrm>
          <a:prstGeom prst="roundRect">
            <a:avLst>
              <a:gd name="adj" fmla="val 1860"/>
            </a:avLst>
          </a:prstGeom>
          <a:solidFill>
            <a:srgbClr val="1C3540"/>
          </a:solidFill>
          <a:ln w="9525">
            <a:solidFill>
              <a:srgbClr val="2C4E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7688" y="40873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B3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regulatory register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445312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lakehouse, versioned, and reproducible exactly as it stood on any past date.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compliance monitoring for a 250,000-entity population — the objective we set out to meet.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Technology: a Microsoft-native build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novel infrastructure. The stack is not the hard part of this programme — the data and the governance 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35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6459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— Data Factory, OneLake, Lakehouse, Warehouse, Direct Lake semantic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7635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4048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4048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and Azure OpenAI · Document Intelligence for evidence · AI Search for clause retrieval · Content Safety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7635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16382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orchestration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638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and Durable Functions · Service Bus · Fabric notebooks · Data Activator for alerting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7635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227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92277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reviewer workbench in Teams · Power Automate for rework and escalation · Power BI for all four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81728"/>
            <a:ext cx="763524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46817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security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68172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for catalog, lineage, labels and retention · Entra ID with privileged access management · Key Vault · Azure Monitor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1645920"/>
            <a:ext cx="3227832" cy="3429000"/>
          </a:xfrm>
          <a:prstGeom prst="roundRect">
            <a:avLst>
              <a:gd name="adj" fmla="val 1133"/>
            </a:avLst>
          </a:prstGeom>
          <a:solidFill>
            <a:srgbClr val="12242B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COPILOT FITS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21945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helping a reviewer think: summarising vendor history, drafting committee narrative, answering policy questions with citations.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as the control itself. A control must be deterministic in invocation, versioned and reproducible. An ad hoc chat session is none of those.</a:t>
            </a:r>
            <a:endParaRPr lang="en-US" sz="1150" dirty="0"/>
          </a:p>
          <a:p>
            <a:pPr marL="342900" indent="-342900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Copilot helps a human think. The pipeline performs the control.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4706"/>
            </a:avLst>
          </a:prstGeom>
          <a:solidFill>
            <a:srgbClr val="E6EDE8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cost per assessment as a monthly measure. It is the number that determines whether this scales to the full population or stalls at Wave 2.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compliance and human review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supervisory question will not be “does your AI work?” It will be “how do you know, who checked, and can you show me a decision from eighteen months ago exactly as it was made?”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852160" cy="393192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9659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CONTROLS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386584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2416" y="228600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output is an observation; only a named human creates a finding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862072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27614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on tier changes, critical findings and escalations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323697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review for every critical vendor and every policy-breach flag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813048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" y="371246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auto-accepted work blind re-reviewed, escape rate reported here monthly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88536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1879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reviewer override rights, with a reason 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466344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path for business units, with a defined response SLA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239512"/>
            <a:ext cx="109728" cy="10972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" y="513892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Automation-bias monitoring — a reviewer accepting 99% in eight seconds is a control failure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29400" y="1783080"/>
            <a:ext cx="5010912" cy="18745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85432" y="19659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22402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outsourcing of IT services and financial services directions, and the IT governance direction · DPDP Act · CERT-In · EBA and DORA for EU-facing entities · model risk management expectations for the AI itself · EU AI Act classification where in scope.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3794760"/>
            <a:ext cx="5010912" cy="1920240"/>
          </a:xfrm>
          <a:prstGeom prst="roundRect">
            <a:avLst>
              <a:gd name="adj" fmla="val 1905"/>
            </a:avLst>
          </a:prstGeom>
          <a:solidFill>
            <a:srgbClr val="F0E4E2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85432" y="3977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POINT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42519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is itself an outsourcing arrangement — cloud infrastructure and third-party model services supporting the outsourcing control function. It must go through our own framework, plausibly as a material arrangement, including exit strategy and audit rights.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do so is a finding that writes itself.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 run in year one: take a closed observation from six months earlier and reproduce its exact inputs, retrieved clauses and output. If we cannot, the audit trail is decorative.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1F5D6B"/>
          </a:solidFill>
          <a:ln w="12700">
            <a:solidFill>
              <a:srgbClr val="1F5D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fails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914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reasons not to proceed. All of them are reasons to sequence it the way we have.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SYMPTOM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F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 THIS PLAN PREVENTS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0574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master is worse than assumed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574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finds heavy duplication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0574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in the first 30 days, before any build commitment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27523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was never written down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523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senior reviewers disagree on a third of the baseline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75234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agreement first; write rules for the disagreements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47288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9808" y="34472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rate too high and reviewers drown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44728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20% flagged in shadow mode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344728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gates per rule; retire weak rules; standardise forms in Wave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42232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9808" y="41422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rubber-stamp the machine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14223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above 95% with falling time per case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14223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Automation-bias monitoring as a named control; blind sampling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37176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9808" y="48371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approval arrives after build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3717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requests land in month five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83717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intake opens in week one, in parallel with data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9167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3D8CE"/>
            </a:solidFill>
            <a:prstDash val="solid"/>
          </a:ln>
          <a:effectLst>
            <a:outerShdw sx="100000" sy="100000" kx="0" ky="0" algn="bl" rotWithShape="0" blurRad="114300" dist="12700" dir="5400000">
              <a:srgbClr val="8E9A94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49808" y="55321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in early warning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53212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alert queue passes 200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553212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6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Two-of-eight firing rule; threshold set to team capacity; a quarter in shadow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SOUGHT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this committee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67128"/>
            <a:ext cx="475488" cy="475488"/>
          </a:xfrm>
          <a:prstGeom prst="ellipse">
            <a:avLst/>
          </a:prstGeom>
          <a:solidFill>
            <a:srgbClr val="7FB3BD"/>
          </a:solidFill>
          <a:ln w="12700">
            <a:solidFill>
              <a:srgbClr val="7FB3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Wave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4231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days: golden dataset, data profiling, rules engine in shadow, reviewer workbench. Ends in an evidence-based go/no-go, not a commitment to scale.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475488" cy="475488"/>
          </a:xfrm>
          <a:prstGeom prst="ellipse">
            <a:avLst/>
          </a:prstGeom>
          <a:solidFill>
            <a:srgbClr val="7FB3BD"/>
          </a:solidFill>
          <a:ln w="12700">
            <a:solidFill>
              <a:srgbClr val="7FB3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27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18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Endorse the operating principle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838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produces observations; only a human produces findings. Adverse outcomes stay human-decided and named.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475488" cy="475488"/>
          </a:xfrm>
          <a:prstGeom prst="ellipse">
            <a:avLst/>
          </a:prstGeom>
          <a:solidFill>
            <a:srgbClr val="7FB3BD"/>
          </a:solidFill>
          <a:ln w="12700">
            <a:solidFill>
              <a:srgbClr val="7FB3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78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governance owner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44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committee owns risk appetite thresholds, tier definitions, scoring weights, and every change to machine autonomy.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75488" cy="475488"/>
          </a:xfrm>
          <a:prstGeom prst="ellipse">
            <a:avLst/>
          </a:prstGeom>
          <a:solidFill>
            <a:srgbClr val="7FB3BD"/>
          </a:solidFill>
          <a:ln w="12700">
            <a:solidFill>
              <a:srgbClr val="7FB3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239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the two prerequisites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6052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time for the golden dataset, and a mandate to standardise and retire assessment templates across business units.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reduce manual QA effort, improve assessment quality, identify systemic outsourcing risk early, and build a compliance monitoring capability that scales to the whole population.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Assurance Control Tower</dc:title>
  <dc:subject>PptxGenJS Presentation</dc:subject>
  <dc:creator>Outsourcing Compliance</dc:creator>
  <cp:lastModifiedBy>Outsourcing Compliance</cp:lastModifiedBy>
  <cp:revision>1</cp:revision>
  <dcterms:created xsi:type="dcterms:W3CDTF">2026-09-09T09:42:48Z</dcterms:created>
  <dcterms:modified xsi:type="dcterms:W3CDTF">2026-09-09T09:42:48Z</dcterms:modified>
</cp:coreProperties>
</file>